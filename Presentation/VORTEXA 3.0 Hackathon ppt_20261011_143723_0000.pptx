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ahnschrift SemiCondensed" panose="020B0502040204020203" pitchFamily="34" charset="0"/>
      <p:regular r:id="rId10"/>
      <p:bold r:id="rId11"/>
    </p:embeddedFont>
    <p:embeddedFont>
      <p:font typeface="Baskerville Old Face" panose="02020602080505020303" pitchFamily="18" charset="0"/>
      <p:regular r:id="rId12"/>
    </p:embeddedFont>
    <p:embeddedFont>
      <p:font typeface="Heading Now 31-38" panose="020B0604020202020204" charset="0"/>
      <p:regular r:id="rId13"/>
    </p:embeddedFont>
    <p:embeddedFont>
      <p:font typeface="Heading Now 31-38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1597" y="6041294"/>
            <a:ext cx="401027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  </a:t>
            </a:r>
            <a:r>
              <a:rPr lang="en-US" sz="4771" b="1" spc="46" dirty="0" err="1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NexVibe</a:t>
            </a:r>
            <a:endParaRPr lang="en-US" sz="4771" b="1" spc="46" dirty="0">
              <a:solidFill>
                <a:srgbClr val="4E4A76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6676" y="4556083"/>
            <a:ext cx="9006223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48"/>
              </a:lnSpc>
            </a:pPr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:  </a:t>
            </a:r>
            <a:r>
              <a:rPr lang="en-US" sz="5148" b="1" spc="50" dirty="0" err="1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RailFlow</a:t>
            </a:r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: Railway Disruption &amp; Platform Conflict Simulator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676" y="3700840"/>
            <a:ext cx="10540923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48"/>
              </a:lnSpc>
            </a:pP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b="1" spc="50" dirty="0">
                <a:solidFill>
                  <a:srgbClr val="161F3E"/>
                </a:solidFill>
                <a:latin typeface="Heading Now 31-38"/>
                <a:ea typeface="Heading Now 31-38 Bold"/>
                <a:cs typeface="Heading Now 31-38 Bold"/>
                <a:sym typeface="Heading Now 31-38"/>
              </a:rPr>
              <a:t>6</a:t>
            </a:r>
            <a:r>
              <a:rPr lang="en-US" sz="5148" spc="50" dirty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, P-03 (Public Systems &amp; Civic Technology.)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1597" y="6900164"/>
            <a:ext cx="3970605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4472" b="1" spc="43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 ID :  QZP 7009093 </a:t>
            </a: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418" y="366545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71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447800" y="347819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8716" y="11430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FEB7FB-E8BD-6ABF-0F1B-233BE02BD2B5}"/>
              </a:ext>
            </a:extLst>
          </p:cNvPr>
          <p:cNvSpPr txBox="1"/>
          <p:nvPr/>
        </p:nvSpPr>
        <p:spPr>
          <a:xfrm>
            <a:off x="1480851" y="1621517"/>
            <a:ext cx="90470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Baskerville Old Face" panose="02020602080505020303" pitchFamily="18" charset="0"/>
              </a:rPr>
              <a:t>RailFlow</a:t>
            </a:r>
            <a:r>
              <a:rPr lang="en-US" sz="4800" dirty="0">
                <a:latin typeface="Baskerville Old Face" panose="02020602080505020303" pitchFamily="18" charset="0"/>
              </a:rPr>
              <a:t>: Railway Disruption &amp; Platform Conflict Simulator</a:t>
            </a:r>
            <a:endParaRPr lang="en-IN" sz="4800" dirty="0">
              <a:latin typeface="Baskerville Old Face" panose="020206020805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62433-21A4-5858-902A-6FC6BCF84160}"/>
              </a:ext>
            </a:extLst>
          </p:cNvPr>
          <p:cNvSpPr txBox="1"/>
          <p:nvPr/>
        </p:nvSpPr>
        <p:spPr>
          <a:xfrm>
            <a:off x="1386093" y="3937677"/>
            <a:ext cx="1115163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ahnschrift SemiCondensed" panose="020B0502040204020203" pitchFamily="34" charset="0"/>
              </a:rPr>
              <a:t>The Problem</a:t>
            </a:r>
          </a:p>
          <a:p>
            <a:pPr lvl="0"/>
            <a:r>
              <a:rPr lang="en-IN" sz="3200" dirty="0">
                <a:latin typeface="Bahnschrift SemiCondensed" panose="020B0502040204020203" pitchFamily="34" charset="0"/>
              </a:rPr>
              <a:t>Railway stations have a limited number of platforms.</a:t>
            </a:r>
          </a:p>
          <a:p>
            <a:pPr lvl="0"/>
            <a:r>
              <a:rPr lang="en-IN" sz="3200" dirty="0">
                <a:latin typeface="Bahnschrift SemiCondensed" panose="020B0502040204020203" pitchFamily="34" charset="0"/>
              </a:rPr>
              <a:t>Multiple trains may need the same platform at overlapping times.</a:t>
            </a:r>
          </a:p>
          <a:p>
            <a:pPr lvl="0"/>
            <a:r>
              <a:rPr lang="en-IN" sz="3200" dirty="0">
                <a:latin typeface="Bahnschrift SemiCondensed" panose="020B0502040204020203" pitchFamily="34" charset="0"/>
              </a:rPr>
              <a:t>Train delays and platform closures create scheduling conflicts.</a:t>
            </a:r>
          </a:p>
          <a:p>
            <a:pPr lvl="0"/>
            <a:r>
              <a:rPr lang="en-IN" sz="3200" dirty="0">
                <a:latin typeface="Bahnschrift SemiCondensed" panose="020B0502040204020203" pitchFamily="34" charset="0"/>
              </a:rPr>
              <a:t>Manually finding alternative platforms can be difficult.</a:t>
            </a:r>
          </a:p>
          <a:p>
            <a:r>
              <a:rPr lang="en-IN" sz="3200" b="1" dirty="0">
                <a:latin typeface="Bahnschrift SemiCondensed" panose="020B0502040204020203" pitchFamily="34" charset="0"/>
              </a:rPr>
              <a:t>Our Challenge:</a:t>
            </a:r>
            <a:r>
              <a:rPr lang="en-IN" sz="3200" dirty="0">
                <a:latin typeface="Bahnschrift SemiCondensed" panose="020B0502040204020203" pitchFamily="34" charset="0"/>
              </a:rPr>
              <a:t> How can we assign trains to platforms and handle disruptions without violating scheduling constraints?</a:t>
            </a:r>
          </a:p>
          <a:p>
            <a:endParaRPr lang="en-IN" sz="3200"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2766" y="240495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331B52-A83F-4B41-7903-54497306A6CD}"/>
              </a:ext>
            </a:extLst>
          </p:cNvPr>
          <p:cNvSpPr txBox="1"/>
          <p:nvPr/>
        </p:nvSpPr>
        <p:spPr>
          <a:xfrm>
            <a:off x="1337566" y="2062443"/>
            <a:ext cx="107141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latin typeface="Bahnschrift SemiCondensed" panose="020B0502040204020203" pitchFamily="34" charset="0"/>
              </a:rPr>
              <a:t>RailFlow</a:t>
            </a:r>
            <a:r>
              <a:rPr lang="en-IN" sz="2800" b="1" dirty="0">
                <a:latin typeface="Bahnschrift SemiCondensed" panose="020B0502040204020203" pitchFamily="34" charset="0"/>
              </a:rPr>
              <a:t> — Railway Scheduling Simulator</a:t>
            </a:r>
          </a:p>
          <a:p>
            <a:r>
              <a:rPr lang="en-IN" sz="2800" dirty="0" err="1">
                <a:latin typeface="Bahnschrift SemiCondensed" panose="020B0502040204020203" pitchFamily="34" charset="0"/>
              </a:rPr>
              <a:t>RailFlow</a:t>
            </a:r>
            <a:r>
              <a:rPr lang="en-IN" sz="2800" dirty="0">
                <a:latin typeface="Bahnschrift SemiCondensed" panose="020B0502040204020203" pitchFamily="34" charset="0"/>
              </a:rPr>
              <a:t> is a web-based simulator that assigns trains to platforms and helps manage scheduling conflicts.</a:t>
            </a:r>
          </a:p>
          <a:p>
            <a:r>
              <a:rPr lang="en-IN" sz="2800" b="1" dirty="0">
                <a:latin typeface="Bahnschrift SemiCondensed" panose="020B0502040204020203" pitchFamily="34" charset="0"/>
              </a:rPr>
              <a:t>Key Features:</a:t>
            </a:r>
            <a:endParaRPr lang="en-IN" sz="2800" dirty="0">
              <a:latin typeface="Bahnschrift SemiCondensed" panose="020B0502040204020203" pitchFamily="34" charset="0"/>
            </a:endParaRPr>
          </a:p>
          <a:p>
            <a:pPr lvl="0"/>
            <a:r>
              <a:rPr lang="en-IN" sz="2800" dirty="0">
                <a:latin typeface="Bahnschrift SemiCondensed" panose="020B0502040204020203" pitchFamily="34" charset="0"/>
              </a:rPr>
              <a:t>Automatically assigns trains to available platforms.</a:t>
            </a:r>
          </a:p>
          <a:p>
            <a:pPr lvl="0"/>
            <a:r>
              <a:rPr lang="en-IN" sz="2800" dirty="0">
                <a:latin typeface="Bahnschrift SemiCondensed" panose="020B0502040204020203" pitchFamily="34" charset="0"/>
              </a:rPr>
              <a:t>Detects platform conflicts.</a:t>
            </a:r>
          </a:p>
          <a:p>
            <a:pPr lvl="0"/>
            <a:r>
              <a:rPr lang="en-IN" sz="2800" dirty="0">
                <a:latin typeface="Bahnschrift SemiCondensed" panose="020B0502040204020203" pitchFamily="34" charset="0"/>
              </a:rPr>
              <a:t>Simulates train delays and platform closures.</a:t>
            </a:r>
          </a:p>
          <a:p>
            <a:pPr lvl="0"/>
            <a:r>
              <a:rPr lang="en-IN" sz="2800" dirty="0">
                <a:latin typeface="Bahnschrift SemiCondensed" panose="020B0502040204020203" pitchFamily="34" charset="0"/>
              </a:rPr>
              <a:t>Attempts to find alternative platform assignments.</a:t>
            </a:r>
          </a:p>
          <a:p>
            <a:pPr lvl="0"/>
            <a:r>
              <a:rPr lang="en-IN" sz="2800" dirty="0">
                <a:latin typeface="Bahnschrift SemiCondensed" panose="020B0502040204020203" pitchFamily="34" charset="0"/>
              </a:rPr>
              <a:t>Validates the revised timetable.</a:t>
            </a:r>
          </a:p>
          <a:p>
            <a:pPr lvl="0"/>
            <a:r>
              <a:rPr lang="en-IN" sz="2800" dirty="0">
                <a:latin typeface="Bahnschrift SemiCondensed" panose="020B0502040204020203" pitchFamily="34" charset="0"/>
              </a:rPr>
              <a:t>Displays results on an interactive dashboard.</a:t>
            </a:r>
          </a:p>
          <a:p>
            <a:r>
              <a:rPr lang="en-IN" sz="2800" b="1" dirty="0">
                <a:latin typeface="Bahnschrift SemiCondensed" panose="020B0502040204020203" pitchFamily="34" charset="0"/>
              </a:rPr>
              <a:t>Goal:</a:t>
            </a:r>
            <a:r>
              <a:rPr lang="en-IN" sz="2800" dirty="0">
                <a:latin typeface="Bahnschrift SemiCondensed" panose="020B0502040204020203" pitchFamily="34" charset="0"/>
              </a:rPr>
              <a:t> Make railway scheduling easier to understand through simulation.</a:t>
            </a:r>
          </a:p>
          <a:p>
            <a:endParaRPr lang="en-IN" sz="2800"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216170"/>
            <a:ext cx="598601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5AA435-FA71-8291-B565-BFFFE392203E}"/>
              </a:ext>
            </a:extLst>
          </p:cNvPr>
          <p:cNvSpPr txBox="1"/>
          <p:nvPr/>
        </p:nvSpPr>
        <p:spPr>
          <a:xfrm>
            <a:off x="1076133" y="1546872"/>
            <a:ext cx="12189267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How </a:t>
            </a:r>
            <a:r>
              <a:rPr lang="en-IN" sz="3600" b="1" dirty="0" err="1"/>
              <a:t>RailFlow</a:t>
            </a:r>
            <a:r>
              <a:rPr lang="en-IN" sz="3600" b="1" dirty="0"/>
              <a:t> Works</a:t>
            </a:r>
          </a:p>
          <a:p>
            <a:r>
              <a:rPr lang="en-IN" sz="3600" b="1" dirty="0"/>
              <a:t>1. Input:</a:t>
            </a:r>
            <a:r>
              <a:rPr lang="en-IN" sz="3600" dirty="0"/>
              <a:t> Load the sample train timetable.</a:t>
            </a:r>
          </a:p>
          <a:p>
            <a:r>
              <a:rPr lang="en-IN" sz="3600" b="1" dirty="0"/>
              <a:t>2. Detect:</a:t>
            </a:r>
            <a:r>
              <a:rPr lang="en-IN" sz="3600" dirty="0"/>
              <a:t> Check for platform conflicts and clearance-gap violations.</a:t>
            </a:r>
          </a:p>
          <a:p>
            <a:r>
              <a:rPr lang="en-IN" sz="3600" b="1" dirty="0"/>
              <a:t>3. Disrupt:</a:t>
            </a:r>
            <a:r>
              <a:rPr lang="en-IN" sz="3600" dirty="0"/>
              <a:t> Simulate a train delay or platform closure.</a:t>
            </a:r>
          </a:p>
          <a:p>
            <a:r>
              <a:rPr lang="en-IN" sz="3600" b="1" dirty="0"/>
              <a:t>4. Replan:</a:t>
            </a:r>
            <a:r>
              <a:rPr lang="en-IN" sz="3600" dirty="0"/>
              <a:t> Run the scheduling engine to find alternative platform assignments.</a:t>
            </a:r>
          </a:p>
          <a:p>
            <a:r>
              <a:rPr lang="en-IN" sz="3600" b="1" dirty="0"/>
              <a:t>5. Validate:</a:t>
            </a:r>
            <a:r>
              <a:rPr lang="en-IN" sz="3600" dirty="0"/>
              <a:t> Check whether the revised assignments satisfy the constraints.</a:t>
            </a:r>
          </a:p>
          <a:p>
            <a:r>
              <a:rPr lang="en-IN" sz="3600" b="1" dirty="0"/>
              <a:t>6. Display:</a:t>
            </a:r>
            <a:r>
              <a:rPr lang="en-IN" sz="3600" dirty="0"/>
              <a:t> Show the results on the dashboard.</a:t>
            </a:r>
          </a:p>
          <a:p>
            <a:r>
              <a:rPr lang="en-IN" sz="3600" b="1" dirty="0"/>
              <a:t>Technology Stack</a:t>
            </a:r>
          </a:p>
          <a:p>
            <a:pPr lvl="0"/>
            <a:r>
              <a:rPr lang="en-IN" sz="3600" b="1" dirty="0"/>
              <a:t>Frontend:</a:t>
            </a:r>
            <a:r>
              <a:rPr lang="en-IN" sz="3600" dirty="0"/>
              <a:t> React + Vite</a:t>
            </a:r>
          </a:p>
          <a:p>
            <a:pPr lvl="0"/>
            <a:r>
              <a:rPr lang="en-IN" sz="3600" b="1" dirty="0"/>
              <a:t>Backend:</a:t>
            </a:r>
            <a:r>
              <a:rPr lang="en-IN" sz="3600" dirty="0"/>
              <a:t> Python + </a:t>
            </a:r>
            <a:r>
              <a:rPr lang="en-IN" sz="3600" dirty="0" err="1"/>
              <a:t>FastAPI</a:t>
            </a:r>
            <a:endParaRPr lang="en-IN" sz="3600" dirty="0"/>
          </a:p>
          <a:p>
            <a:pPr lvl="0"/>
            <a:r>
              <a:rPr lang="en-IN" sz="3600" b="1" dirty="0"/>
              <a:t>Scheduling:</a:t>
            </a:r>
            <a:r>
              <a:rPr lang="en-IN" sz="3600" dirty="0"/>
              <a:t> Constraint-based Python engine</a:t>
            </a:r>
          </a:p>
          <a:p>
            <a:pPr lvl="0"/>
            <a:r>
              <a:rPr lang="en-IN" sz="3600" b="1" dirty="0"/>
              <a:t>Validation:</a:t>
            </a:r>
            <a:r>
              <a:rPr lang="en-IN" sz="3600" dirty="0"/>
              <a:t> Python validation utilities</a:t>
            </a: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032" y="300016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A83E29-CD36-203E-17AB-53DF94FCFD94}"/>
              </a:ext>
            </a:extLst>
          </p:cNvPr>
          <p:cNvSpPr txBox="1"/>
          <p:nvPr/>
        </p:nvSpPr>
        <p:spPr>
          <a:xfrm>
            <a:off x="1409700" y="2315076"/>
            <a:ext cx="11584952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Bahnschrift SemiCondensed" panose="020B0502040204020203" pitchFamily="34" charset="0"/>
              </a:rPr>
              <a:t>Why Is </a:t>
            </a:r>
            <a:r>
              <a:rPr lang="en-IN" sz="3600" b="1" dirty="0" err="1">
                <a:latin typeface="Bahnschrift SemiCondensed" panose="020B0502040204020203" pitchFamily="34" charset="0"/>
              </a:rPr>
              <a:t>RailFlow</a:t>
            </a:r>
            <a:r>
              <a:rPr lang="en-IN" sz="3600" b="1" dirty="0">
                <a:latin typeface="Bahnschrift SemiCondensed" panose="020B0502040204020203" pitchFamily="34" charset="0"/>
              </a:rPr>
              <a:t> Feasible?</a:t>
            </a:r>
          </a:p>
          <a:p>
            <a:pPr lvl="0"/>
            <a:r>
              <a:rPr lang="en-IN" sz="3600" dirty="0">
                <a:latin typeface="Bahnschrift SemiCondensed" panose="020B0502040204020203" pitchFamily="34" charset="0"/>
              </a:rPr>
              <a:t>Uses widely available, open-source technologies.</a:t>
            </a:r>
          </a:p>
          <a:p>
            <a:pPr lvl="0"/>
            <a:r>
              <a:rPr lang="en-IN" sz="3600" dirty="0">
                <a:latin typeface="Bahnschrift SemiCondensed" panose="020B0502040204020203" pitchFamily="34" charset="0"/>
              </a:rPr>
              <a:t>Runs locally without requiring live railway data.</a:t>
            </a:r>
          </a:p>
          <a:p>
            <a:pPr lvl="0"/>
            <a:r>
              <a:rPr lang="en-IN" sz="3600" dirty="0">
                <a:latin typeface="Bahnschrift SemiCondensed" panose="020B0502040204020203" pitchFamily="34" charset="0"/>
              </a:rPr>
              <a:t>Uses sample timetables for testing and demonstration.</a:t>
            </a:r>
          </a:p>
          <a:p>
            <a:pPr lvl="0"/>
            <a:r>
              <a:rPr lang="en-IN" sz="3600" dirty="0">
                <a:latin typeface="Bahnschrift SemiCondensed" panose="020B0502040204020203" pitchFamily="34" charset="0"/>
              </a:rPr>
              <a:t>Separates the frontend, backend, and scheduling engine.</a:t>
            </a:r>
          </a:p>
          <a:p>
            <a:pPr lvl="0"/>
            <a:r>
              <a:rPr lang="en-IN" sz="3600" dirty="0">
                <a:latin typeface="Bahnschrift SemiCondensed" panose="020B0502040204020203" pitchFamily="34" charset="0"/>
              </a:rPr>
              <a:t>Includes scheduler and disruption-related test files.</a:t>
            </a:r>
          </a:p>
          <a:p>
            <a:r>
              <a:rPr lang="en-IN" sz="3600" b="1" dirty="0">
                <a:latin typeface="Bahnschrift SemiCondensed" panose="020B0502040204020203" pitchFamily="34" charset="0"/>
              </a:rPr>
              <a:t>Practical Use</a:t>
            </a:r>
          </a:p>
          <a:p>
            <a:pPr lvl="0"/>
            <a:r>
              <a:rPr lang="en-IN" sz="3600" dirty="0">
                <a:latin typeface="Bahnschrift SemiCondensed" panose="020B0502040204020203" pitchFamily="34" charset="0"/>
              </a:rPr>
              <a:t>Demonstrates railway scheduling concepts.</a:t>
            </a:r>
          </a:p>
          <a:p>
            <a:pPr lvl="0"/>
            <a:r>
              <a:rPr lang="en-IN" sz="3600" dirty="0">
                <a:latin typeface="Bahnschrift SemiCondensed" panose="020B0502040204020203" pitchFamily="34" charset="0"/>
              </a:rPr>
              <a:t>Allows safe testing of different disruption scenarios.</a:t>
            </a:r>
          </a:p>
          <a:p>
            <a:pPr lvl="0"/>
            <a:r>
              <a:rPr lang="en-IN" sz="3600" dirty="0">
                <a:latin typeface="Bahnschrift SemiCondensed" panose="020B0502040204020203" pitchFamily="34" charset="0"/>
              </a:rPr>
              <a:t>Can be extended with better optimization and reporting.</a:t>
            </a:r>
          </a:p>
          <a:p>
            <a:r>
              <a:rPr lang="en-IN" sz="3600" b="1" dirty="0">
                <a:latin typeface="Bahnschrift SemiCondensed" panose="020B0502040204020203" pitchFamily="34" charset="0"/>
              </a:rPr>
              <a:t>Current Scope:</a:t>
            </a:r>
            <a:r>
              <a:rPr lang="en-IN" sz="3600" dirty="0">
                <a:latin typeface="Bahnschrift SemiCondensed" panose="020B0502040204020203" pitchFamily="34" charset="0"/>
              </a:rPr>
              <a:t> An educational prototype, not a real railway-control system.</a:t>
            </a:r>
          </a:p>
          <a:p>
            <a:endParaRPr lang="en-IN" sz="3600" dirty="0">
              <a:latin typeface="Bahnschrift Semi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339405" y="186091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3B276-34CD-43C4-50CE-F01A241DC7EE}"/>
              </a:ext>
            </a:extLst>
          </p:cNvPr>
          <p:cNvSpPr txBox="1"/>
          <p:nvPr/>
        </p:nvSpPr>
        <p:spPr>
          <a:xfrm>
            <a:off x="1513883" y="2187337"/>
            <a:ext cx="1225188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Who Can Benefit?</a:t>
            </a:r>
          </a:p>
          <a:p>
            <a:pPr lvl="0"/>
            <a:r>
              <a:rPr lang="en-IN" sz="3600" b="1" dirty="0"/>
              <a:t>Students:</a:t>
            </a:r>
            <a:r>
              <a:rPr lang="en-IN" sz="3600" dirty="0"/>
              <a:t> Learn scheduling and conflict detection.</a:t>
            </a:r>
          </a:p>
          <a:p>
            <a:pPr lvl="0"/>
            <a:r>
              <a:rPr lang="en-IN" sz="3600" b="1" dirty="0"/>
              <a:t>Educators:</a:t>
            </a:r>
            <a:r>
              <a:rPr lang="en-IN" sz="3600" dirty="0"/>
              <a:t> Demonstrate real-world optimization problems.</a:t>
            </a:r>
          </a:p>
          <a:p>
            <a:pPr lvl="0"/>
            <a:r>
              <a:rPr lang="en-IN" sz="3600" b="1" dirty="0"/>
              <a:t>Developers:</a:t>
            </a:r>
            <a:r>
              <a:rPr lang="en-IN" sz="3600" dirty="0"/>
              <a:t> Experiment with constraint-based algorithms.</a:t>
            </a:r>
          </a:p>
          <a:p>
            <a:pPr lvl="0"/>
            <a:r>
              <a:rPr lang="en-IN" sz="3600" b="1" dirty="0"/>
              <a:t>Researchers:</a:t>
            </a:r>
            <a:r>
              <a:rPr lang="en-IN" sz="3600" dirty="0"/>
              <a:t> Explore railway scheduling scenarios.</a:t>
            </a:r>
          </a:p>
          <a:p>
            <a:pPr lvl="0"/>
            <a:endParaRPr lang="en-IN" sz="3600" dirty="0"/>
          </a:p>
          <a:p>
            <a:r>
              <a:rPr lang="en-IN" sz="3600" b="1" dirty="0"/>
              <a:t>Key Benefits</a:t>
            </a:r>
          </a:p>
          <a:p>
            <a:pPr lvl="0"/>
            <a:r>
              <a:rPr lang="en-IN" sz="3600" dirty="0"/>
              <a:t>Makes platform conflicts easier to understand.</a:t>
            </a:r>
          </a:p>
          <a:p>
            <a:pPr lvl="0"/>
            <a:r>
              <a:rPr lang="en-IN" sz="3600" dirty="0"/>
              <a:t>Allows users to test different disruptions.</a:t>
            </a:r>
          </a:p>
          <a:p>
            <a:pPr lvl="0"/>
            <a:r>
              <a:rPr lang="en-IN" sz="3600" dirty="0"/>
              <a:t>Shows whether revised assignments satisfy scheduling rules.</a:t>
            </a:r>
          </a:p>
          <a:p>
            <a:pPr lvl="0"/>
            <a:r>
              <a:rPr lang="en-IN" sz="3600" dirty="0"/>
              <a:t>Provides a foundation for future scheduling improvements.</a:t>
            </a: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066800" y="364217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D1497-DA57-231E-BAC5-73D4303E4964}"/>
              </a:ext>
            </a:extLst>
          </p:cNvPr>
          <p:cNvSpPr txBox="1"/>
          <p:nvPr/>
        </p:nvSpPr>
        <p:spPr>
          <a:xfrm>
            <a:off x="1141070" y="1559311"/>
            <a:ext cx="1460035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What Makes </a:t>
            </a:r>
            <a:r>
              <a:rPr lang="en-IN" sz="3600" b="1" dirty="0" err="1"/>
              <a:t>RailFlow</a:t>
            </a:r>
            <a:r>
              <a:rPr lang="en-IN" sz="3600" b="1" dirty="0"/>
              <a:t> Different?</a:t>
            </a:r>
          </a:p>
          <a:p>
            <a:r>
              <a:rPr lang="en-IN" sz="3600" b="1" dirty="0"/>
              <a:t>1. Automated Scheduling</a:t>
            </a:r>
            <a:br>
              <a:rPr lang="en-IN" sz="3600" dirty="0"/>
            </a:br>
            <a:r>
              <a:rPr lang="en-IN" sz="3600" dirty="0"/>
              <a:t>Uses a Python engine to assign trains to platforms.</a:t>
            </a:r>
          </a:p>
          <a:p>
            <a:r>
              <a:rPr lang="en-IN" sz="3600" b="1" dirty="0"/>
              <a:t>2. Disruption Simulation</a:t>
            </a:r>
            <a:br>
              <a:rPr lang="en-IN" sz="3600" dirty="0"/>
            </a:br>
            <a:r>
              <a:rPr lang="en-IN" sz="3600" dirty="0"/>
              <a:t>Supports train-delay requests and platform closures.</a:t>
            </a:r>
          </a:p>
          <a:p>
            <a:r>
              <a:rPr lang="en-IN" sz="3600" b="1" dirty="0"/>
              <a:t>3. Constraint Checking</a:t>
            </a:r>
            <a:br>
              <a:rPr lang="en-IN" sz="3600" dirty="0"/>
            </a:br>
            <a:r>
              <a:rPr lang="en-IN" sz="3600" dirty="0"/>
              <a:t>Considers platform availability, required platforms, and clearance gaps.</a:t>
            </a:r>
          </a:p>
          <a:p>
            <a:r>
              <a:rPr lang="en-IN" sz="3600" b="1" dirty="0"/>
              <a:t>4. Validation Before Acceptance</a:t>
            </a:r>
            <a:br>
              <a:rPr lang="en-IN" sz="3600" dirty="0"/>
            </a:br>
            <a:r>
              <a:rPr lang="en-IN" sz="3600" dirty="0"/>
              <a:t>Checks proposed assignments before treating a timetable as valid.</a:t>
            </a:r>
          </a:p>
          <a:p>
            <a:r>
              <a:rPr lang="en-IN" sz="3600" b="1" dirty="0"/>
              <a:t>5. Interactive Dashboard</a:t>
            </a:r>
            <a:br>
              <a:rPr lang="en-IN" sz="3600" dirty="0"/>
            </a:br>
            <a:r>
              <a:rPr lang="en-IN" sz="3600" dirty="0"/>
              <a:t>Combines scheduling and disruption controls in one interface.</a:t>
            </a:r>
          </a:p>
          <a:p>
            <a:r>
              <a:rPr lang="en-IN" sz="3600" b="1" dirty="0"/>
              <a:t>Our Core Idea</a:t>
            </a:r>
          </a:p>
          <a:p>
            <a:endParaRPr lang="en-IN" sz="3600" b="1" dirty="0"/>
          </a:p>
          <a:p>
            <a:r>
              <a:rPr lang="en-IN" sz="3600" b="1" dirty="0"/>
              <a:t>DETECT → REPLAN → VALIDATE</a:t>
            </a:r>
            <a:endParaRPr lang="en-IN" sz="3600" dirty="0"/>
          </a:p>
          <a:p>
            <a:r>
              <a:rPr lang="en-IN" sz="3600" dirty="0"/>
              <a:t>A simple, interactive way to understand railway scheduling challenges.</a:t>
            </a: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617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334000" y="843638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 dirty="0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2942268" y="2378775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844723" y="3045934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 dirty="0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 dirty="0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C865D-0E25-DF3F-D318-B52D80BA1032}"/>
              </a:ext>
            </a:extLst>
          </p:cNvPr>
          <p:cNvSpPr txBox="1"/>
          <p:nvPr/>
        </p:nvSpPr>
        <p:spPr>
          <a:xfrm>
            <a:off x="3922733" y="4065618"/>
            <a:ext cx="90363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Thank You!</a:t>
            </a:r>
          </a:p>
          <a:p>
            <a:r>
              <a:rPr lang="en-IN" sz="2400" b="1" dirty="0" err="1"/>
              <a:t>RailFlow</a:t>
            </a:r>
            <a:endParaRPr lang="en-IN" sz="2400" b="1" dirty="0"/>
          </a:p>
          <a:p>
            <a:endParaRPr lang="en-IN" sz="2400" dirty="0"/>
          </a:p>
          <a:p>
            <a:r>
              <a:rPr lang="en-IN" sz="2400" i="1" dirty="0"/>
              <a:t>Simulate Disruptions. Replan Platforms. Validate Every Revision.</a:t>
            </a:r>
            <a:endParaRPr lang="en-IN" sz="2400" dirty="0"/>
          </a:p>
          <a:p>
            <a:r>
              <a:rPr lang="en-IN" sz="2400" dirty="0"/>
              <a:t>VORTEXA 3.0 | P-03 | Domain 6</a:t>
            </a:r>
          </a:p>
          <a:p>
            <a:endParaRPr lang="en-IN" sz="2400" dirty="0"/>
          </a:p>
          <a:p>
            <a:r>
              <a:rPr lang="en-IN" sz="2400" b="1" dirty="0"/>
              <a:t>Questions?</a:t>
            </a:r>
            <a:endParaRPr lang="en-IN" sz="2400" dirty="0"/>
          </a:p>
          <a:p>
            <a:endParaRPr lang="en-I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575</Words>
  <Application>Microsoft Office PowerPoint</Application>
  <PresentationFormat>Custom</PresentationFormat>
  <Paragraphs>87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Heading Now 31-38 Bold</vt:lpstr>
      <vt:lpstr>Arial</vt:lpstr>
      <vt:lpstr>Bahnschrift SemiCondensed</vt:lpstr>
      <vt:lpstr>Heading Now 31-38</vt:lpstr>
      <vt:lpstr>Baskerville Old Face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dc:creator>Ghansham Erande</dc:creator>
  <cp:lastModifiedBy>ghanshamerande1@outlook.com</cp:lastModifiedBy>
  <cp:revision>2</cp:revision>
  <dcterms:created xsi:type="dcterms:W3CDTF">2006-08-16T00:00:00Z</dcterms:created>
  <dcterms:modified xsi:type="dcterms:W3CDTF">2026-10-11T15:17:22Z</dcterms:modified>
  <dc:identifier>DAHXr7I3BNw</dc:identifier>
</cp:coreProperties>
</file>